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embeddedFontLst>
    <p:embeddedFont>
      <p:font typeface="Play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PbTbcORqbPHe0wYpf4j4OqLbC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5a5998d4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2d5a5998d4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5a5998d4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2d5a5998d4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5a5998d4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2d5a5998d4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1" name="Google Shape;2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" name="Google Shape;2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a2b341d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1a2b341d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a2b341d8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a2b341d8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041550e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2041550e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Drug Repurposing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46778" y="5735637"/>
            <a:ext cx="11354382" cy="595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15/11/2024, Catania							Lorenzo F. Signorini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connectivity score on MIThRIL PF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Drug Signature calculation: Data</a:t>
            </a:r>
            <a:br>
              <a:rPr lang="en-US"/>
            </a:br>
            <a:r>
              <a:rPr lang="en-US" sz="1400"/>
              <a:t>source:  </a:t>
            </a:r>
            <a:r>
              <a:rPr lang="en-US" sz="1400" baseline="30000"/>
              <a:t>1</a:t>
            </a:r>
            <a:r>
              <a:rPr lang="en-US" sz="1400"/>
              <a:t>“Sviluppo di un Sistema ad alte prestazioni di repurposing di farmaci per malattie non trasmissibili”, C. Catalano, A. Pulvirenti, 2024</a:t>
            </a:r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LINCS-GSE92742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Affymetrix RNA microarray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12328 genes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43525 drugs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76 cell lines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3613 RNA plates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Perturbation times: 1,2,3,4,6,24,48,72,96,120,144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Dose: 0.04-10nM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65GB compressed, cumbersome to open and store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Exported by 1 in 10k independent binaries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Drug Signature calculation: Filtering</a:t>
            </a:r>
            <a:br>
              <a:rPr lang="en-US"/>
            </a:br>
            <a:r>
              <a:rPr lang="en-US" sz="1200"/>
              <a:t>source</a:t>
            </a:r>
            <a:r>
              <a:rPr lang="en-US" sz="1300"/>
              <a:t>:  </a:t>
            </a:r>
            <a:r>
              <a:rPr lang="en-US" sz="1300" baseline="30000"/>
              <a:t>1</a:t>
            </a:r>
            <a:r>
              <a:rPr lang="en-US" sz="1300"/>
              <a:t>“Sviluppo di un Sistema ad alte prestazioni di repurposing di farmaci per malattie non trasmissibili”, C. Catalano, A. Pulvirenti, 2024</a:t>
            </a:r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6h, 24h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10nM Dosing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Removing inferred genes below a threshold  	10174 genes (9k inferred)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3985666" y="2164196"/>
            <a:ext cx="27083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3222 drugs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6"/>
          <p:cNvCxnSpPr>
            <a:endCxn id="104" idx="1"/>
          </p:cNvCxnSpPr>
          <p:nvPr/>
        </p:nvCxnSpPr>
        <p:spPr>
          <a:xfrm>
            <a:off x="3462166" y="2764361"/>
            <a:ext cx="523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" name="Google Shape;106;p6"/>
          <p:cNvCxnSpPr/>
          <p:nvPr/>
        </p:nvCxnSpPr>
        <p:spPr>
          <a:xfrm>
            <a:off x="7732846" y="3572896"/>
            <a:ext cx="52351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03"/>
              <a:buFont typeface="Play"/>
              <a:buNone/>
            </a:pPr>
            <a:r>
              <a:rPr lang="en-US"/>
              <a:t>Drug Signature calculation:  Data Processing and calculation</a:t>
            </a:r>
            <a:br>
              <a:rPr lang="en-US"/>
            </a:br>
            <a:endParaRPr sz="1300"/>
          </a:p>
        </p:txBody>
      </p:sp>
      <p:sp>
        <p:nvSpPr>
          <p:cNvPr id="112" name="Google Shape;11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65GB compressed, cumbersome to open and store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Exported in 10k independent binary files.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LMM calculation: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Variabili  casuali: RNA plate, cell ID (dose and perturbation times are constant (?))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Calculation bottleneck (only need to be run once)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of LMM: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Drug, Gene, DE_log2_FC, std error, t value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ABT-737,CDH3,-0.0599,0.1837,-0.2704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03"/>
              <a:buFont typeface="Play"/>
              <a:buNone/>
            </a:pPr>
            <a:r>
              <a:rPr lang="en-US"/>
              <a:t>Drug Signature calculation:  Data Processing and calculation</a:t>
            </a:r>
            <a:br>
              <a:rPr lang="en-US"/>
            </a:br>
            <a:endParaRPr sz="1300"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65GB compressed, cumbersome to open and store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n-US">
                <a:solidFill>
                  <a:srgbClr val="00B050"/>
                </a:solidFill>
              </a:rPr>
              <a:t>Exported in 10k independent binary files.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LMM calculation: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n-US">
                <a:solidFill>
                  <a:srgbClr val="00B050"/>
                </a:solidFill>
              </a:rPr>
              <a:t>Variabili  casuali: RNA plate, cell ID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Output of LMM: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n-US">
                <a:solidFill>
                  <a:srgbClr val="00B050"/>
                </a:solidFill>
              </a:rPr>
              <a:t>Drug, Gene, DE_log2_FC, std error, t value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n-US">
                <a:solidFill>
                  <a:srgbClr val="00B050"/>
                </a:solidFill>
              </a:rPr>
              <a:t>ABT-737,CDH3,-0.0599,0.1837,-0.2704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03"/>
              <a:buFont typeface="Play"/>
              <a:buNone/>
            </a:pPr>
            <a:r>
              <a:rPr lang="en-US"/>
              <a:t>Drug Signature calculation:  Data Processing and calculation</a:t>
            </a:r>
            <a:br>
              <a:rPr lang="en-US"/>
            </a:br>
            <a:endParaRPr sz="1300"/>
          </a:p>
        </p:txBody>
      </p:sp>
      <p:sp>
        <p:nvSpPr>
          <p:cNvPr id="124" name="Google Shape;12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6h, 24h metanalysis: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Every gene has 2 LMM calculation, one per perturbation time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Metanalysis = consensus signature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R’s metafor’s rma function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03"/>
              <a:buFont typeface="Play"/>
              <a:buNone/>
            </a:pPr>
            <a:r>
              <a:rPr lang="en-US"/>
              <a:t>Drug Signature calculation:  Data Processing and calculation</a:t>
            </a:r>
            <a:br>
              <a:rPr lang="en-US"/>
            </a:br>
            <a:endParaRPr sz="1300"/>
          </a:p>
        </p:txBody>
      </p:sp>
      <p:sp>
        <p:nvSpPr>
          <p:cNvPr id="130" name="Google Shape;1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</a:rPr>
              <a:t>6h, 24h metanalysis</a:t>
            </a:r>
            <a:r>
              <a:rPr lang="en-US"/>
              <a:t>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Every gene has 2 LMM calculation, one per perturbation time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Metanalysis = consensus signature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R’s metafor’s rma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Char char="•"/>
            </a:pPr>
            <a:r>
              <a:rPr lang="en-US">
                <a:solidFill>
                  <a:srgbClr val="92D050"/>
                </a:solidFill>
              </a:rPr>
              <a:t>All genes metanalysis data from Carmelo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DBED33"/>
                </a:solidFill>
              </a:rPr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connectivity score on MIThRIL PF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Disease signature calculation: Data</a:t>
            </a:r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Transcriptomics reads (RNA counts)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ALS: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1299 experiments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12 tissues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39376 genes -&gt; 16286 after filtering for significance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LMM for als_NYGC (Voom+Dream implementation) (tissue: variabile casuale)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simple linear regression for IPF (lmFit function)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Disease signature calculation: Data</a:t>
            </a:r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Transcriptomics reads (RNA counts)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ALS: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1299 experiments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12 tissues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39376 genes -&gt; 16286 after filtering for significance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Model: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 LMM for als_NYGC (Voom+Dream implementation)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simple linear regression for IPF (lmFit function)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Output: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disease_signature: gene,DE_log2_FC,std.error,t.value,p.value,adj.p.value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DBED33"/>
                </a:solidFill>
              </a:rPr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account for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Propagate such FC on network using MIThRIL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connectivity score on MIThRIL PF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n-US"/>
              <a:t>MIThRIL’s Perturbation Factor Calculation:</a:t>
            </a:r>
            <a:br>
              <a:rPr lang="en-US"/>
            </a:br>
            <a:r>
              <a:rPr lang="en-US"/>
              <a:t>Disease signature</a:t>
            </a:r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62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MIThRIL input: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 name, Fold change, tab separate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Disease gene signature file -&gt; reshape to MIThRIL format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098677" y="2205182"/>
            <a:ext cx="6418947" cy="622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670095" y="4832894"/>
            <a:ext cx="113008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-jar MITHrIL2.jar mithril -o als_NYGC.mo -p als_NYGC.PF.Acc.Pval -i als_NYGC_signature.mi  -verbose -m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n-US"/>
              <a:t>MIThRIL’s Perturbation Factor Calculation:</a:t>
            </a:r>
            <a:br>
              <a:rPr lang="en-US"/>
            </a:br>
            <a:r>
              <a:rPr lang="en-US"/>
              <a:t>Disease signature</a:t>
            </a:r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62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MIThRIL output: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Pathway ID, Pathway Name, Gene Id, Gene Name, Perturbation, Accumulator, Pvalue</a:t>
            </a:r>
            <a:endParaRPr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5a5998d4e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MIThRIL’s Perturbation Factor Calculation:</a:t>
            </a:r>
            <a:br>
              <a:rPr lang="en-US"/>
            </a:br>
            <a:r>
              <a:rPr lang="en-US"/>
              <a:t>Disease signature</a:t>
            </a:r>
            <a:endParaRPr/>
          </a:p>
        </p:txBody>
      </p:sp>
      <p:sp>
        <p:nvSpPr>
          <p:cNvPr id="174" name="Google Shape;174;g2d5a5998d4e_0_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MIThRIL output: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Pathway ID, Pathway Name, Gene Id, </a:t>
            </a:r>
            <a:r>
              <a:rPr lang="en-US" sz="2000">
                <a:solidFill>
                  <a:srgbClr val="92D050"/>
                </a:solidFill>
              </a:rPr>
              <a:t>Gene Name, Perturbation</a:t>
            </a:r>
            <a:r>
              <a:rPr lang="en-US" sz="2000"/>
              <a:t>, Accumulator, </a:t>
            </a:r>
            <a:r>
              <a:rPr lang="en-US" sz="2000">
                <a:solidFill>
                  <a:srgbClr val="92D050"/>
                </a:solidFill>
              </a:rPr>
              <a:t>Pvalue</a:t>
            </a:r>
            <a:endParaRPr sz="2000">
              <a:solidFill>
                <a:srgbClr val="92D05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cxnSp>
        <p:nvCxnSpPr>
          <p:cNvPr id="175" name="Google Shape;175;g2d5a5998d4e_0_1"/>
          <p:cNvCxnSpPr>
            <a:stCxn id="174" idx="2"/>
          </p:cNvCxnSpPr>
          <p:nvPr/>
        </p:nvCxnSpPr>
        <p:spPr>
          <a:xfrm>
            <a:off x="6096000" y="3887825"/>
            <a:ext cx="0" cy="363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6" name="Google Shape;176;g2d5a5998d4e_0_1"/>
          <p:cNvSpPr txBox="1"/>
          <p:nvPr/>
        </p:nvSpPr>
        <p:spPr>
          <a:xfrm>
            <a:off x="838200" y="3283313"/>
            <a:ext cx="105156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Connectivity score Input: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gene, DE_log2_FC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p.value</a:t>
            </a:r>
            <a:endParaRPr sz="20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5a5998d4e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MIThRIL’s Perturbation Factor Calculation:</a:t>
            </a:r>
            <a:br>
              <a:rPr lang="en-US"/>
            </a:br>
            <a:r>
              <a:rPr lang="en-US"/>
              <a:t>Drug signature</a:t>
            </a:r>
            <a:endParaRPr/>
          </a:p>
        </p:txBody>
      </p:sp>
      <p:sp>
        <p:nvSpPr>
          <p:cNvPr id="182" name="Google Shape;182;g2d5a5998d4e_0_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6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161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MIThRIL input:</a:t>
            </a:r>
            <a:endParaRPr/>
          </a:p>
          <a:p>
            <a:pPr marL="685800" lvl="1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 name, Fold change, tab separate</a:t>
            </a:r>
            <a:endParaRPr/>
          </a:p>
          <a:p>
            <a:pPr marL="685800" lvl="1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Drug gene signature file:</a:t>
            </a:r>
            <a:endParaRPr/>
          </a:p>
          <a:p>
            <a:pPr marL="1143000" lvl="2" indent="-209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Drug, Gene, DE_log2_FC, std error, t value: </a:t>
            </a:r>
            <a:endParaRPr sz="2400"/>
          </a:p>
          <a:p>
            <a:pPr marL="1143000" lvl="2" indent="-209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20000"/>
              <a:buChar char="•"/>
            </a:pPr>
            <a:r>
              <a:rPr lang="en-US"/>
              <a:t>Create one file per drug </a:t>
            </a:r>
            <a:endParaRPr/>
          </a:p>
          <a:p>
            <a:pPr marL="1143000" lvl="2" indent="-209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20000"/>
              <a:buChar char="•"/>
            </a:pPr>
            <a:r>
              <a:rPr lang="en-US"/>
              <a:t>reshape to MIThRIL format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83" name="Google Shape;183;g2d5a5998d4e_0_8"/>
          <p:cNvSpPr txBox="1"/>
          <p:nvPr/>
        </p:nvSpPr>
        <p:spPr>
          <a:xfrm>
            <a:off x="670095" y="4832894"/>
            <a:ext cx="1130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-jar MITHrIL2.jar mithril -o LINCS_drug_signature_24h_verapamil.mo -p LINCS_drug_sig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nature_24h_verapamil.PF.Acc.Pval -i LINCS_drug_signature_24h_verapamil.mi  -verbose -m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d5a5998d4e_0_8"/>
          <p:cNvSpPr txBox="1"/>
          <p:nvPr/>
        </p:nvSpPr>
        <p:spPr>
          <a:xfrm>
            <a:off x="729575" y="4289900"/>
            <a:ext cx="601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run with a random drug: verapamil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5a5998d4e_0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MIThRIL’s Perturbation Factor Calculation:</a:t>
            </a:r>
            <a:br>
              <a:rPr lang="en-US"/>
            </a:br>
            <a:r>
              <a:rPr lang="en-US"/>
              <a:t>Drug signature</a:t>
            </a:r>
            <a:endParaRPr/>
          </a:p>
        </p:txBody>
      </p:sp>
      <p:sp>
        <p:nvSpPr>
          <p:cNvPr id="190" name="Google Shape;190;g2d5a5998d4e_0_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MIThRIL output: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Pathway ID, Pathway Name, Gene Id, </a:t>
            </a:r>
            <a:r>
              <a:rPr lang="en-US" sz="2000">
                <a:solidFill>
                  <a:srgbClr val="92D050"/>
                </a:solidFill>
              </a:rPr>
              <a:t>Gene Name, Perturbation</a:t>
            </a:r>
            <a:r>
              <a:rPr lang="en-US" sz="2000"/>
              <a:t>, Accumulator, </a:t>
            </a:r>
            <a:r>
              <a:rPr lang="en-US" sz="2000">
                <a:solidFill>
                  <a:srgbClr val="92D050"/>
                </a:solidFill>
              </a:rPr>
              <a:t>Pvalue</a:t>
            </a:r>
            <a:endParaRPr sz="2000">
              <a:solidFill>
                <a:srgbClr val="92D05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cxnSp>
        <p:nvCxnSpPr>
          <p:cNvPr id="191" name="Google Shape;191;g2d5a5998d4e_0_19"/>
          <p:cNvCxnSpPr>
            <a:stCxn id="190" idx="2"/>
          </p:cNvCxnSpPr>
          <p:nvPr/>
        </p:nvCxnSpPr>
        <p:spPr>
          <a:xfrm>
            <a:off x="6096000" y="3887825"/>
            <a:ext cx="0" cy="363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2" name="Google Shape;192;g2d5a5998d4e_0_19"/>
          <p:cNvSpPr txBox="1"/>
          <p:nvPr/>
        </p:nvSpPr>
        <p:spPr>
          <a:xfrm>
            <a:off x="838200" y="3283313"/>
            <a:ext cx="105156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97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all MIThRIL outputs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Connectivity score Input: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drug, gene, DE_log2_FC, p.value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Connectivity Score calculation</a:t>
            </a:r>
            <a:br>
              <a:rPr lang="en-US"/>
            </a:br>
            <a:r>
              <a:rPr lang="en-US" sz="1600"/>
              <a:t>source:  </a:t>
            </a:r>
            <a:r>
              <a:rPr lang="en-US" sz="1600" baseline="30000"/>
              <a:t>1</a:t>
            </a:r>
            <a:r>
              <a:rPr lang="en-US" sz="1600"/>
              <a:t>“Sviluppo di un Sistema ad alte prestazioni di repurposing di farmaci per malattie non trasmissibili”, C. Catalano, A. Pulvirenti, 2024</a:t>
            </a:r>
            <a:br>
              <a:rPr lang="en-US"/>
            </a:b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score (-1,1) to indicate similarity between a durg and a diseased tissue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for drugs with negative connectivity score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Inputs: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Disease signatures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Drug signature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DBED33"/>
                </a:solidFill>
              </a:rPr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FFFF00"/>
                </a:solidFill>
              </a:rPr>
              <a:t>Propagate such FC on network using MIThRIL</a:t>
            </a:r>
            <a:endParaRPr>
              <a:solidFill>
                <a:srgbClr val="FFFF0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ts val="24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Propagate such FC on network using MIThRIL</a:t>
            </a:r>
            <a:endParaRPr>
              <a:solidFill>
                <a:srgbClr val="92D05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Calculate connectivity score on MIThRIL PF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Connectivity Score calculation</a:t>
            </a:r>
            <a:br>
              <a:rPr lang="en-US"/>
            </a:br>
            <a:r>
              <a:rPr lang="en-US" sz="1600"/>
              <a:t>source:  </a:t>
            </a:r>
            <a:r>
              <a:rPr lang="en-US" sz="1600" baseline="30000"/>
              <a:t>1</a:t>
            </a:r>
            <a:r>
              <a:rPr lang="en-US" sz="1600"/>
              <a:t>“Sviluppo di un Sistema ad alte prestazioni di repurposing di farmaci per malattie non trasmissibili”, C. Catalano, A. Pulvirenti, 2024</a:t>
            </a:r>
            <a:br>
              <a:rPr lang="en-US"/>
            </a:br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Calculate score (-1,1) to indicate similarity between a durg and a diseased tissue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Look for drugs with negative connectivity score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Inputs: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Disease signatures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Drug signature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Gene, DE_log2_FC, std.error, t.value, p.value, adj.p.value</a:t>
            </a:r>
            <a:endParaRPr>
              <a:solidFill>
                <a:srgbClr val="92D05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Calculate connectivity score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bin chen algorithm on 150 most significant genes (C. Catalano implementation)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Char char="•"/>
            </a:pPr>
            <a:r>
              <a:rPr lang="en-US">
                <a:solidFill>
                  <a:srgbClr val="92D050"/>
                </a:solidFill>
              </a:rPr>
              <a:t>Bin chen algorithm on most significant genes (FC&gt;0.6) (C. Catalano implementation)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Connectivity Score calculation: PF fata</a:t>
            </a:r>
            <a:br>
              <a:rPr lang="en-US"/>
            </a:br>
            <a:r>
              <a:rPr lang="en-US" sz="1600"/>
              <a:t>source:  </a:t>
            </a:r>
            <a:r>
              <a:rPr lang="en-US" sz="1600" baseline="30000"/>
              <a:t>1</a:t>
            </a:r>
            <a:r>
              <a:rPr lang="en-US" sz="1600"/>
              <a:t>“Sviluppo di un Sistema ad alte prestazioni di repurposing di farmaci per malattie non trasmissibili”, C. Catalano, A. Pulvirenti, 2024</a:t>
            </a:r>
            <a:br>
              <a:rPr lang="en-US"/>
            </a:b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score (-1,1) to indicate similarity between a durg and a diseased tissue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for drugs with negative connectivity score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Inputs: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Disease signatures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Gene, DE_log2_FC, p.value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connectivity score?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Connectivity Score calculation: T-value vs P-value?</a:t>
            </a:r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T-value vs P-value?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Algorithm uses T-value, PF comes with P-value.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‘il t value puo’ essere usato come indice di significativita’ statistica perche, guardando la tavola di distribuzione del t value, a parita’ di grado di liberta’, all’incremento del t value corrisponde il decrement del p-value, e siccome il numero di esperimenti e’ uguale per tutti I geni, il grado di liberta’ rimane lo stesso.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Employ P-value for connectivity score calculation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</a:pPr>
            <a:r>
              <a:rPr lang="en-US">
                <a:solidFill>
                  <a:srgbClr val="FFC000"/>
                </a:solidFill>
              </a:rPr>
              <a:t>bin chen algorithm on 150 most significant genes (C. Catalano implementation). Algorithm runs without errors. Junk in junk out?</a:t>
            </a:r>
            <a:endParaRPr>
              <a:solidFill>
                <a:srgbClr val="92D05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DBED33"/>
                </a:solidFill>
              </a:rPr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FFFF00"/>
                </a:solidFill>
              </a:rPr>
              <a:t>Propagate such FC on network using MIThRIL</a:t>
            </a:r>
            <a:endParaRPr>
              <a:solidFill>
                <a:srgbClr val="FFFF0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Propagate such FC on network using MIThRIL</a:t>
            </a:r>
            <a:endParaRPr>
              <a:solidFill>
                <a:srgbClr val="92D05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connectivity score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</a:t>
            </a:r>
            <a:r>
              <a:rPr lang="en-US">
                <a:solidFill>
                  <a:srgbClr val="92D050"/>
                </a:solidFill>
              </a:rPr>
              <a:t>On FC gene signatures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FFC000"/>
                </a:solidFill>
              </a:rPr>
              <a:t>On disease signatures MIThRIL PF?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On drug signatures MIThRIL PF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Next steps/issues/questions	</a:t>
            </a:r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Calculate PF on Drug signatures: open/read metanalysis .Rds files</a:t>
            </a:r>
            <a:endParaRPr/>
          </a:p>
          <a:p>
            <a:pPr marL="228600" lvl="0" indent="-15652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/>
              <a:t>LINCS_drug_signature_6h.csv ? </a:t>
            </a:r>
            <a:endParaRPr/>
          </a:p>
          <a:p>
            <a:pPr marL="228600" lvl="0" indent="-38375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43"/>
              <a:buChar char="•"/>
            </a:pPr>
            <a:r>
              <a:rPr lang="en-US"/>
              <a:t>Run metanalysis scripts?  </a:t>
            </a:r>
            <a:r>
              <a:rPr lang="en-US" sz="1200"/>
              <a:t>Metanalysis input? durg_signature.csv? o .rds? c’è differenza fra i due? dove si scrive l’input?</a:t>
            </a:r>
            <a:endParaRPr sz="1200"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exact Connectivity score drug input ?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Fix bugs of connectivity outputs:</a:t>
            </a:r>
            <a:endParaRPr/>
          </a:p>
          <a:p>
            <a:pPr marL="685800" lvl="1" indent="-22002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Output filename: why 05_als_.. gets an ipf_named output? </a:t>
            </a:r>
            <a:endParaRPr/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Is connectivity score actually calculating the mithril (PF) one? probably not: PF vs FC outputs: only differ for 6th decimal of p-value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P-value input issue. Does it make sense to propagate t-values? Does it make sense to score connectivity on P-values?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Next: step from single gene(PF) to pathway  (Accumulator)?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Next steps/issues/questions	</a:t>
            </a:r>
            <a:endParaRPr/>
          </a:p>
        </p:txBody>
      </p:sp>
      <p:sp>
        <p:nvSpPr>
          <p:cNvPr id="240" name="Google Shape;24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00FF00"/>
                </a:highlight>
              </a:rPr>
              <a:t>Calculate PF on Drug signatures: open/read metanalysis .Rds files</a:t>
            </a:r>
            <a:endParaRPr>
              <a:highlight>
                <a:srgbClr val="00FF00"/>
              </a:highlight>
            </a:endParaRPr>
          </a:p>
          <a:p>
            <a:pPr marL="228600" lvl="0" indent="-15652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>
                <a:highlight>
                  <a:srgbClr val="00FF00"/>
                </a:highlight>
              </a:rPr>
              <a:t>LINCS_drug_signature_6h.csv ? </a:t>
            </a:r>
            <a:endParaRPr>
              <a:highlight>
                <a:srgbClr val="00FF00"/>
              </a:highlight>
            </a:endParaRPr>
          </a:p>
          <a:p>
            <a:pPr marL="228600" lvl="0" indent="-38375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43"/>
              <a:buChar char="•"/>
            </a:pPr>
            <a:r>
              <a:rPr lang="en-US">
                <a:highlight>
                  <a:srgbClr val="00FF00"/>
                </a:highlight>
              </a:rPr>
              <a:t>Run metanalysis scripts?  </a:t>
            </a:r>
            <a:r>
              <a:rPr lang="en-US" sz="1200">
                <a:highlight>
                  <a:srgbClr val="00FF00"/>
                </a:highlight>
              </a:rPr>
              <a:t>Metanalysis input? durg_signature.csv? o .rds? c’è differenza fra i due? dove si scrive l’input?</a:t>
            </a:r>
            <a:endParaRPr sz="1200">
              <a:highlight>
                <a:srgbClr val="00FF00"/>
              </a:highlight>
            </a:endParaRPr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exact Connectivity score drug input ?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00FF00"/>
                </a:highlight>
              </a:rPr>
              <a:t>Fix bugs of connectivity outputs:</a:t>
            </a:r>
            <a:endParaRPr>
              <a:highlight>
                <a:srgbClr val="00FF00"/>
              </a:highlight>
            </a:endParaRPr>
          </a:p>
          <a:p>
            <a:pPr marL="685800" lvl="1" indent="-22002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highlight>
                  <a:srgbClr val="00FF00"/>
                </a:highlight>
              </a:rPr>
              <a:t>Output filename: why 05_als_.. gets an ipf_named output? </a:t>
            </a:r>
            <a:endParaRPr>
              <a:highlight>
                <a:srgbClr val="00FF00"/>
              </a:highlight>
            </a:endParaRPr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00FF00"/>
                </a:highlight>
              </a:rPr>
              <a:t>Is connectivity score actually calculating the mithril (PF) one? probably not: PF vs FC outputs: only differ for 6th decimal of p-value</a:t>
            </a:r>
            <a:endParaRPr>
              <a:highlight>
                <a:srgbClr val="00FF00"/>
              </a:highlight>
            </a:endParaRPr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P-value input issue. Does it make sense to propagate t-values? Does it make sense to score connectivity on P-values?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Next: step from single gene(PF) to pathway  (Accumulator)?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246" name="Google Shape;24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DBED33"/>
                </a:solidFill>
              </a:rPr>
              <a:t>Metanalysis of different perturbation time points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FFFF00"/>
                </a:solidFill>
              </a:rPr>
              <a:t>Propagate such FC on network using MIThRIL</a:t>
            </a:r>
            <a:endParaRPr>
              <a:solidFill>
                <a:srgbClr val="FFFF0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Propagate such FC on network using MIThRIL</a:t>
            </a:r>
            <a:endParaRPr>
              <a:solidFill>
                <a:srgbClr val="92D05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connectivity score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</a:t>
            </a:r>
            <a:r>
              <a:rPr lang="en-US">
                <a:solidFill>
                  <a:srgbClr val="92D050"/>
                </a:solidFill>
              </a:rPr>
              <a:t>On FC gene signatures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FFC000"/>
                </a:solidFill>
              </a:rPr>
              <a:t>On disease signatures MIThRIL PF?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On drug signatures MIThRIL PF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Pipeline overview</a:t>
            </a:r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drug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BED33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Metanalysis of different perturbation time points</a:t>
            </a:r>
            <a:endParaRPr>
              <a:solidFill>
                <a:srgbClr val="92D050"/>
              </a:solidFill>
            </a:endParaRPr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Propagate such FC on network using MIThRIL</a:t>
            </a:r>
            <a:endParaRPr>
              <a:solidFill>
                <a:srgbClr val="92D05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Calculate disease gene signature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Use LMM to take into account multiple variables, and calculate fold change between control vs test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2D05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Propagate such FC on network using MIThRIL</a:t>
            </a:r>
            <a:endParaRPr>
              <a:solidFill>
                <a:srgbClr val="92D05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Calculate connectivity score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</a:t>
            </a:r>
            <a:r>
              <a:rPr lang="en-US">
                <a:solidFill>
                  <a:srgbClr val="92D050"/>
                </a:solidFill>
              </a:rPr>
              <a:t>On FC gene signatures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92D050"/>
                </a:solidFill>
              </a:rPr>
              <a:t>On disease signatures MIThRIL PF?</a:t>
            </a:r>
            <a:endParaRPr>
              <a:solidFill>
                <a:srgbClr val="92D050"/>
              </a:solidFill>
            </a:endParaRPr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>
                <a:solidFill>
                  <a:srgbClr val="FFC000"/>
                </a:solidFill>
              </a:rPr>
              <a:t>On drug signatures MIThRIL PF</a:t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Drug signature input for connectivity score calculation	</a:t>
            </a:r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Input of tsr: 10k gene files (with gene name):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Rows: 3222 drug files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Columns: Fold change, tvalue and statistics * 3 conditions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Output of MITHRIL: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3222 drug files: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Rows: drugs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Columns: PF, pvaule statistics * 3 conditions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Drug signature input for connectivity score calculation	</a:t>
            </a:r>
            <a:endParaRPr/>
          </a:p>
        </p:txBody>
      </p:sp>
      <p:sp>
        <p:nvSpPr>
          <p:cNvPr id="264" name="Google Shape;264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Input of tsr: 10k gene files (with gene name):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Rows: 3222 drug files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Columns: Fold change, tvalue and statistics * 3 conditions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Output of MITHRIL: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3222 drug files: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Rows: drugs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Columns: PF, pvaule statistics * 3 conditions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Drug signature input for connectivity score calculation	</a:t>
            </a:r>
            <a:endParaRPr/>
          </a:p>
        </p:txBody>
      </p:sp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5216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Input of tsr: 10k gene files (with gene name):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Rows: 3222 drug files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Columns: Fold change, tvalue and statistics * 3 conditions</a:t>
            </a:r>
            <a:endParaRPr/>
          </a:p>
          <a:p>
            <a:pPr marL="457200" lvl="0" indent="-35216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Output of MITHRIL: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3222 drug files:</a:t>
            </a:r>
            <a:endParaRPr/>
          </a:p>
          <a:p>
            <a:pPr marL="1371600" lvl="2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Rows: drugs</a:t>
            </a:r>
            <a:endParaRPr/>
          </a:p>
          <a:p>
            <a:pPr marL="1371600" lvl="2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Columns: PF, pvaule statistics * 3 conditions</a:t>
            </a:r>
            <a:endParaRPr/>
          </a:p>
          <a:p>
            <a:pPr marL="457200" lvl="0" indent="-35216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MAPPING: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Converting Pvalue in Tvalue vs modifying algorithm for calculating Pvalue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Re-shaping mithril output into tsr input </a:t>
            </a:r>
            <a:endParaRPr/>
          </a:p>
          <a:p>
            <a:pPr marL="914400" lvl="1" indent="-35216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46"/>
              <a:buChar char="•"/>
            </a:pPr>
            <a:r>
              <a:rPr lang="en-US"/>
              <a:t>mapping gene IDs to gene names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Input mapping: Converting Pvalue in Tvalue vs modifying algorithm for calculating Pvalue</a:t>
            </a:r>
            <a:br>
              <a:rPr lang="en-US"/>
            </a:br>
            <a:endParaRPr/>
          </a:p>
        </p:txBody>
      </p:sp>
      <p:sp>
        <p:nvSpPr>
          <p:cNvPr id="276" name="Google Shape;276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 value used instead of P value because lmer method of R returns T value.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Inverse linear relationship between t value and p value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Feed P value instead of T value in DiseaseSignatureMapper.R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Use P value in BinChenConnectivityScore.R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bin chen algorithm	</a:t>
            </a:r>
            <a:endParaRPr/>
          </a:p>
        </p:txBody>
      </p:sp>
      <p:sp>
        <p:nvSpPr>
          <p:cNvPr id="282" name="Google Shape;282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 value: rank genes according to t-value, and select the first n elements, (i.e. filtering for significance), </a:t>
            </a:r>
            <a:r>
              <a:rPr lang="en-US" i="1"/>
              <a:t>before</a:t>
            </a:r>
            <a:r>
              <a:rPr lang="en-US"/>
              <a:t> feeding to connectivity score calculation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Modify line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drug_signature$rank &lt;-(-1 * drug_signature$estimate)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drug_signature$rank &lt;- drug_signature$estimate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lay"/>
              <a:buChar char="•"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Disease signature dov’è?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Other: disease signature split in over vs underexpressed, without accounting for magnitude of change?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fARE viusalizzazione di mith scores vs FC scores. (da drug files)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Input mapping: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Re-shaping mithril output into tsr input </a:t>
            </a:r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mithril 3 files: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DRUGNAME_6h_perturbations.txt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DRUGNAME_24h_perturbations.txt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DRUGNAME_6h_24h_perturbations.txt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Every line into these three files to be merged and mapped to one line of the gene file.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gene, drug, perturbation6h (FC), na, na pvalue6h, adjpvalue6h,perturbation24h (FC), na, na pvalue24h, adjpvalue24h, perturbation6h24h (FC), na, na pvalue6h24h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a2b341d83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Mithril </a:t>
            </a:r>
            <a:endParaRPr/>
          </a:p>
        </p:txBody>
      </p:sp>
      <p:sp>
        <p:nvSpPr>
          <p:cNvPr id="294" name="Google Shape;294;g31a2b341d83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9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calculating PF with gene names vs ids gives different results?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java -jarapp-3.0.0-SNAPSHOT.jar mithril-batch -verbose -reactome -p -customize-pathway-matrix -seed 1234 -inversion-factory fast-cpu -multiplication-factory fast-cpu -t 30 -i LINCS_metanalysis.mi -o drug_signature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java -jarapp-3.0.0-SNAPSHOT.jar mithril-batch -verbose -reactome -p -customize-pathway-matrix -seed 1234 -inversion-factory fast-cpu -multiplication-factory fast-cpu -t 30 -i </a:t>
            </a:r>
            <a:r>
              <a:rPr lang="en-US" b="1"/>
              <a:t>LINCS_metanalysis_gene_names</a:t>
            </a:r>
            <a:r>
              <a:rPr lang="en-US"/>
              <a:t>.mi -o </a:t>
            </a:r>
            <a:r>
              <a:rPr lang="en-US" b="1"/>
              <a:t>drug_signature_gene_name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1a2b341d83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Mithril</a:t>
            </a:r>
            <a:endParaRPr/>
          </a:p>
        </p:txBody>
      </p:sp>
      <p:pic>
        <p:nvPicPr>
          <p:cNvPr id="300" name="Google Shape;300;g31a2b341d83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0863"/>
            <a:ext cx="118872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1a2b341d83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650" y="3981450"/>
            <a:ext cx="91249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1a2b341d83_0_10"/>
          <p:cNvSpPr txBox="1"/>
          <p:nvPr/>
        </p:nvSpPr>
        <p:spPr>
          <a:xfrm>
            <a:off x="398825" y="6167325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</a:rPr>
              <a:t>all PF=0</a:t>
            </a: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041550e88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 fare 18 12 2024</a:t>
            </a:r>
            <a:endParaRPr/>
          </a:p>
        </p:txBody>
      </p:sp>
      <p:sp>
        <p:nvSpPr>
          <p:cNvPr id="308" name="Google Shape;308;g32041550e88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come </a:t>
            </a:r>
            <a:r>
              <a:rPr lang="en-US" dirty="0" err="1"/>
              <a:t>testare</a:t>
            </a:r>
            <a:r>
              <a:rPr lang="en-US" dirty="0"/>
              <a:t> la </a:t>
            </a:r>
            <a:r>
              <a:rPr lang="en-US" dirty="0" err="1"/>
              <a:t>bontà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predizioni</a:t>
            </a:r>
            <a:r>
              <a:rPr lang="en-US" dirty="0"/>
              <a:t>?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come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bontà</a:t>
            </a:r>
            <a:r>
              <a:rPr lang="en-US" dirty="0"/>
              <a:t> del </a:t>
            </a:r>
            <a:r>
              <a:rPr lang="en-US" dirty="0" err="1"/>
              <a:t>renking</a:t>
            </a:r>
            <a:r>
              <a:rPr lang="en-US" dirty="0"/>
              <a:t> rispetto all </a:t>
            </a:r>
            <a:r>
              <a:rPr lang="en-US" dirty="0" err="1"/>
              <a:t>altro</a:t>
            </a:r>
            <a:r>
              <a:rPr lang="en-US" dirty="0"/>
              <a:t> </a:t>
            </a:r>
            <a:r>
              <a:rPr lang="en-US" dirty="0" err="1"/>
              <a:t>metodo</a:t>
            </a:r>
            <a:r>
              <a:rPr lang="en-US" dirty="0"/>
              <a:t>?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come fa  </a:t>
            </a:r>
            <a:r>
              <a:rPr lang="en-US" dirty="0" err="1"/>
              <a:t>validazione</a:t>
            </a:r>
            <a:r>
              <a:rPr lang="en-US" dirty="0"/>
              <a:t> bin </a:t>
            </a:r>
            <a:r>
              <a:rPr lang="en-US" dirty="0" err="1"/>
              <a:t>chen</a:t>
            </a:r>
            <a:r>
              <a:rPr lang="en-US" dirty="0"/>
              <a:t>? </a:t>
            </a:r>
            <a:r>
              <a:rPr lang="en-US" dirty="0" err="1"/>
              <a:t>leggi</a:t>
            </a:r>
            <a:r>
              <a:rPr lang="en-US" dirty="0"/>
              <a:t> bene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correlazione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CS(</a:t>
            </a:r>
            <a:r>
              <a:rPr lang="en-US" dirty="0" err="1"/>
              <a:t>normale</a:t>
            </a:r>
            <a:r>
              <a:rPr lang="en-US" dirty="0"/>
              <a:t>) e CS(pert)? </a:t>
            </a:r>
            <a:r>
              <a:rPr lang="en-US" dirty="0" err="1"/>
              <a:t>cioe</a:t>
            </a:r>
            <a:r>
              <a:rPr lang="en-US" dirty="0"/>
              <a:t> </a:t>
            </a:r>
            <a:r>
              <a:rPr lang="en-US" dirty="0" err="1"/>
              <a:t>vedere</a:t>
            </a:r>
            <a:r>
              <a:rPr lang="en-US" dirty="0"/>
              <a:t> proprio se </a:t>
            </a:r>
            <a:r>
              <a:rPr lang="en-US" dirty="0" err="1"/>
              <a:t>colìrrelano</a:t>
            </a:r>
            <a:r>
              <a:rPr lang="en-US" dirty="0"/>
              <a:t>, </a:t>
            </a:r>
            <a:r>
              <a:rPr lang="en-US" dirty="0" err="1"/>
              <a:t>oppure</a:t>
            </a:r>
            <a:r>
              <a:rPr lang="en-US" dirty="0"/>
              <a:t> </a:t>
            </a:r>
            <a:r>
              <a:rPr lang="en-US" dirty="0" err="1"/>
              <a:t>vedere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correlazione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pvalues</a:t>
            </a:r>
            <a:r>
              <a:rPr lang="en-US" dirty="0"/>
              <a:t> di CS normal e CS pert? </a:t>
            </a:r>
            <a:r>
              <a:rPr lang="en-US" dirty="0" err="1"/>
              <a:t>perchè</a:t>
            </a:r>
            <a:r>
              <a:rPr lang="en-US" dirty="0"/>
              <a:t> mi </a:t>
            </a:r>
            <a:r>
              <a:rPr lang="en-US" dirty="0" err="1"/>
              <a:t>aspetto</a:t>
            </a:r>
            <a:r>
              <a:rPr lang="en-US" dirty="0"/>
              <a:t> un </a:t>
            </a:r>
            <a:r>
              <a:rPr lang="en-US" dirty="0" err="1"/>
              <a:t>aumento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significativita</a:t>
            </a:r>
            <a:r>
              <a:rPr lang="en-US" dirty="0"/>
              <a:t> (</a:t>
            </a:r>
            <a:r>
              <a:rPr lang="en-US" dirty="0" err="1"/>
              <a:t>diminuzione</a:t>
            </a:r>
            <a:r>
              <a:rPr lang="en-US" dirty="0"/>
              <a:t> del </a:t>
            </a:r>
            <a:r>
              <a:rPr lang="en-US" dirty="0" err="1"/>
              <a:t>pvalue</a:t>
            </a:r>
            <a:r>
              <a:rPr lang="en-US" dirty="0"/>
              <a:t>) a </a:t>
            </a:r>
            <a:r>
              <a:rPr lang="en-US" dirty="0" err="1"/>
              <a:t>partia</a:t>
            </a:r>
            <a:r>
              <a:rPr lang="en-US" dirty="0"/>
              <a:t> di ranking </a:t>
            </a:r>
            <a:r>
              <a:rPr lang="en-US" dirty="0" err="1"/>
              <a:t>della</a:t>
            </a:r>
            <a:r>
              <a:rPr lang="en-US" dirty="0"/>
              <a:t> drug (per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specifico</a:t>
            </a:r>
            <a:r>
              <a:rPr lang="en-US" dirty="0"/>
              <a:t> disease ma per dire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guardando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IPF</a:t>
            </a:r>
            <a:r>
              <a:rPr lang="en-US" dirty="0"/>
              <a:t> per dire). (o </a:t>
            </a:r>
            <a:r>
              <a:rPr lang="en-US" dirty="0" err="1"/>
              <a:t>semplicemente</a:t>
            </a:r>
            <a:r>
              <a:rPr lang="en-US" dirty="0"/>
              <a:t> un test </a:t>
            </a:r>
            <a:r>
              <a:rPr lang="en-US" dirty="0" err="1"/>
              <a:t>statistico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pvalue</a:t>
            </a:r>
            <a:r>
              <a:rPr lang="en-US" dirty="0"/>
              <a:t> per </a:t>
            </a:r>
            <a:r>
              <a:rPr lang="en-US" dirty="0" err="1"/>
              <a:t>vedere</a:t>
            </a:r>
            <a:r>
              <a:rPr lang="en-US" dirty="0"/>
              <a:t> se la </a:t>
            </a:r>
            <a:r>
              <a:rPr lang="en-US" dirty="0" err="1"/>
              <a:t>distr</a:t>
            </a:r>
            <a:r>
              <a:rPr lang="en-US" dirty="0"/>
              <a:t> di </a:t>
            </a:r>
            <a:r>
              <a:rPr lang="en-US" dirty="0" err="1"/>
              <a:t>pvalue</a:t>
            </a:r>
            <a:r>
              <a:rPr lang="en-US" dirty="0"/>
              <a:t> è </a:t>
            </a:r>
            <a:r>
              <a:rPr lang="en-US" dirty="0" err="1"/>
              <a:t>significativamente</a:t>
            </a:r>
            <a:r>
              <a:rPr lang="en-US" dirty="0"/>
              <a:t> </a:t>
            </a:r>
            <a:r>
              <a:rPr lang="en-US" dirty="0" err="1"/>
              <a:t>migliore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nostro </a:t>
            </a:r>
            <a:r>
              <a:rPr lang="en-US" dirty="0" err="1"/>
              <a:t>caso</a:t>
            </a:r>
            <a:r>
              <a:rPr lang="en-US" dirty="0"/>
              <a:t>?)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poi non so se ha senso ma cera </a:t>
            </a:r>
            <a:r>
              <a:rPr lang="en-US" dirty="0" err="1"/>
              <a:t>quel</a:t>
            </a:r>
            <a:r>
              <a:rPr lang="en-US" dirty="0"/>
              <a:t> video di </a:t>
            </a:r>
            <a:r>
              <a:rPr lang="en-US" dirty="0" err="1"/>
              <a:t>veritasium</a:t>
            </a:r>
            <a:r>
              <a:rPr lang="en-US" dirty="0"/>
              <a:t> sol </a:t>
            </a:r>
            <a:r>
              <a:rPr lang="en-US" dirty="0" err="1"/>
              <a:t>perche</a:t>
            </a:r>
            <a:r>
              <a:rPr lang="en-US" dirty="0"/>
              <a:t> la </a:t>
            </a:r>
            <a:r>
              <a:rPr lang="en-US" dirty="0" err="1"/>
              <a:t>democrazia</a:t>
            </a:r>
            <a:r>
              <a:rPr lang="en-US" dirty="0"/>
              <a:t> è </a:t>
            </a:r>
            <a:r>
              <a:rPr lang="en-US" dirty="0" err="1"/>
              <a:t>matematicamente</a:t>
            </a:r>
            <a:r>
              <a:rPr lang="en-US" dirty="0"/>
              <a:t> non </a:t>
            </a:r>
            <a:r>
              <a:rPr lang="en-US" dirty="0" err="1"/>
              <a:t>funzionale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aveva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di ranking </a:t>
            </a:r>
            <a:r>
              <a:rPr lang="en-US" dirty="0" err="1"/>
              <a:t>carino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magari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applicare</a:t>
            </a:r>
            <a:r>
              <a:rPr lang="en-US" dirty="0"/>
              <a:t> qui.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RIFAI diseases mithril con </a:t>
            </a:r>
            <a:r>
              <a:rPr lang="en-US" dirty="0" err="1"/>
              <a:t>versione</a:t>
            </a:r>
            <a:r>
              <a:rPr lang="en-US" dirty="0"/>
              <a:t> 3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c’è</a:t>
            </a:r>
            <a:r>
              <a:rPr lang="en-US" dirty="0"/>
              <a:t> un bug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2!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2693</Words>
  <Application>Microsoft Office PowerPoint</Application>
  <PresentationFormat>Widescreen</PresentationFormat>
  <Paragraphs>312</Paragraphs>
  <Slides>36</Slides>
  <Notes>36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39" baseType="lpstr">
      <vt:lpstr>Play</vt:lpstr>
      <vt:lpstr>Arial</vt:lpstr>
      <vt:lpstr>Office Theme</vt:lpstr>
      <vt:lpstr>Drug Repurposing</vt:lpstr>
      <vt:lpstr>Pipeline overview</vt:lpstr>
      <vt:lpstr>Drug Signature calculation: Data source:  1“Sviluppo di un Sistema ad alte prestazioni di repurposing di farmaci per malattie non trasmissibili”, C. Catalano, A. Pulvirenti, 2024</vt:lpstr>
      <vt:lpstr>Drug Signature calculation: Filtering source:  1“Sviluppo di un Sistema ad alte prestazioni di repurposing di farmaci per malattie non trasmissibili”, C. Catalano, A. Pulvirenti, 2024</vt:lpstr>
      <vt:lpstr>Drug Signature calculation:  Data Processing and calculation </vt:lpstr>
      <vt:lpstr>Drug Signature calculation:  Data Processing and calculation </vt:lpstr>
      <vt:lpstr>Drug Signature calculation:  Data Processing and calculation </vt:lpstr>
      <vt:lpstr>Drug Signature calculation:  Data Processing and calculation </vt:lpstr>
      <vt:lpstr>Pipeline overview</vt:lpstr>
      <vt:lpstr>Disease signature calculation: Data</vt:lpstr>
      <vt:lpstr>Disease signature calculation: Data</vt:lpstr>
      <vt:lpstr>Pipeline overview</vt:lpstr>
      <vt:lpstr>MIThRIL’s Perturbation Factor Calculation: Disease signature</vt:lpstr>
      <vt:lpstr>MIThRIL’s Perturbation Factor Calculation: Disease signature</vt:lpstr>
      <vt:lpstr>MIThRIL’s Perturbation Factor Calculation: Disease signature</vt:lpstr>
      <vt:lpstr>MIThRIL’s Perturbation Factor Calculation: Drug signature</vt:lpstr>
      <vt:lpstr>MIThRIL’s Perturbation Factor Calculation: Drug signature</vt:lpstr>
      <vt:lpstr>Connectivity Score calculation source:  1“Sviluppo di un Sistema ad alte prestazioni di repurposing di farmaci per malattie non trasmissibili”, C. Catalano, A. Pulvirenti, 2024 </vt:lpstr>
      <vt:lpstr>Pipeline overview</vt:lpstr>
      <vt:lpstr>Connectivity Score calculation source:  1“Sviluppo di un Sistema ad alte prestazioni di repurposing di farmaci per malattie non trasmissibili”, C. Catalano, A. Pulvirenti, 2024 </vt:lpstr>
      <vt:lpstr>Connectivity Score calculation: PF fata source:  1“Sviluppo di un Sistema ad alte prestazioni di repurposing di farmaci per malattie non trasmissibili”, C. Catalano, A. Pulvirenti, 2024 </vt:lpstr>
      <vt:lpstr>Connectivity Score calculation: T-value vs P-value?</vt:lpstr>
      <vt:lpstr>Pipeline overview</vt:lpstr>
      <vt:lpstr>Next steps/issues/questions </vt:lpstr>
      <vt:lpstr>Next steps/issues/questions </vt:lpstr>
      <vt:lpstr>Pipeline overview</vt:lpstr>
      <vt:lpstr>Pipeline overview</vt:lpstr>
      <vt:lpstr>Drug signature input for connectivity score calculation </vt:lpstr>
      <vt:lpstr>Drug signature input for connectivity score calculation </vt:lpstr>
      <vt:lpstr>Drug signature input for connectivity score calculation </vt:lpstr>
      <vt:lpstr>Input mapping: Converting Pvalue in Tvalue vs modifying algorithm for calculating Pvalue </vt:lpstr>
      <vt:lpstr>bin chen algorithm </vt:lpstr>
      <vt:lpstr>Input mapping: Re-shaping mithril output into tsr input </vt:lpstr>
      <vt:lpstr>Mithril </vt:lpstr>
      <vt:lpstr>Mithril</vt:lpstr>
      <vt:lpstr>da fare 18 12 2024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Lorenzo Signorini</dc:creator>
  <cp:lastModifiedBy>Lorenzo Federico Signorini</cp:lastModifiedBy>
  <cp:revision>17</cp:revision>
  <dcterms:created xsi:type="dcterms:W3CDTF">2024-11-15T06:00:15Z</dcterms:created>
  <dcterms:modified xsi:type="dcterms:W3CDTF">2025-02-20T14:40:29Z</dcterms:modified>
</cp:coreProperties>
</file>